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57" r:id="rId8"/>
    <p:sldId id="258" r:id="rId9"/>
    <p:sldId id="271" r:id="rId10"/>
    <p:sldId id="272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Système</a:t>
            </a:r>
            <a:r>
              <a:rPr dirty="0"/>
              <a:t> </a:t>
            </a:r>
            <a:r>
              <a:rPr dirty="0" err="1"/>
              <a:t>d’Alerte</a:t>
            </a:r>
            <a:r>
              <a:rPr dirty="0"/>
              <a:t> </a:t>
            </a:r>
            <a:r>
              <a:rPr dirty="0" err="1"/>
              <a:t>Précoce</a:t>
            </a:r>
            <a:r>
              <a:rPr dirty="0"/>
              <a:t> et de </a:t>
            </a:r>
            <a:r>
              <a:rPr dirty="0" err="1"/>
              <a:t>Gestion</a:t>
            </a:r>
            <a:r>
              <a:rPr dirty="0"/>
              <a:t> </a:t>
            </a:r>
            <a:r>
              <a:rPr dirty="0" err="1"/>
              <a:t>Communale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099" y="1600200"/>
            <a:ext cx="8229600" cy="4525963"/>
          </a:xfrm>
        </p:spPr>
        <p:txBody>
          <a:bodyPr/>
          <a:lstStyle/>
          <a:p>
            <a:r>
              <a:t>REAAGESS</a:t>
            </a:r>
          </a:p>
          <a:p>
            <a:r>
              <a:t>Plateforme dédiée aux communes rurales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4260" y="669403"/>
            <a:ext cx="534879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b="1" dirty="0"/>
              <a:t>Système d’Alerte Précoce et de Gestion </a:t>
            </a:r>
            <a:r>
              <a:rPr lang="fr-FR" sz="2800" b="1" dirty="0" smtClean="0"/>
              <a:t>Communale au Togo</a:t>
            </a:r>
            <a:endParaRPr lang="fr-FR" sz="280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21" y="477267"/>
            <a:ext cx="1189607" cy="11462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4261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927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261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1608769" y="822495"/>
            <a:ext cx="1025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Contexte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9066" y="1613750"/>
            <a:ext cx="7665868" cy="337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Le changement climatique affecte de manière disproportionnée les zones rurales, où l’agriculture constitue la principale source de revenus.</a:t>
            </a:r>
          </a:p>
          <a:p>
            <a:pPr>
              <a:lnSpc>
                <a:spcPct val="150000"/>
              </a:lnSpc>
            </a:pPr>
            <a:r>
              <a:rPr lang="fr-FR" dirty="0"/>
              <a:t>Malgré leur savoir-faire, les agriculteurs font face à un manque critique d’information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Données climatiques peu exploitables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Absence d’alertes précoces adaptées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Faible accès aux prix des marchés agricoles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Peu d’outils pour anticiper et planifier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441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00832" y="1588194"/>
            <a:ext cx="5619564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dirty="0" smtClean="0"/>
              <a:t>Les </a:t>
            </a:r>
            <a:r>
              <a:rPr lang="fr-FR" dirty="0"/>
              <a:t>communes rurales disposent de </a:t>
            </a:r>
            <a:r>
              <a:rPr lang="fr-FR" b="1" dirty="0"/>
              <a:t>moyens limités</a:t>
            </a:r>
            <a:r>
              <a:rPr lang="fr-FR" dirty="0"/>
              <a:t> pour 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Communiquer efficacement avec les citoyens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Suivre et rendre visibles les projets de développement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/>
              <a:t>Intégrer les </a:t>
            </a:r>
            <a:r>
              <a:rPr lang="fr-FR" b="1" dirty="0"/>
              <a:t>données spatiales et climatiques</a:t>
            </a:r>
            <a:r>
              <a:rPr lang="fr-FR" dirty="0"/>
              <a:t> dans la planification </a:t>
            </a:r>
            <a:r>
              <a:rPr lang="fr-FR" dirty="0" smtClean="0"/>
              <a:t>locale</a:t>
            </a:r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261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1608769" y="822495"/>
            <a:ext cx="1025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Contexte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0832" y="4021221"/>
            <a:ext cx="607232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 smtClean="0"/>
              <a:t>Conséquence </a:t>
            </a:r>
            <a:r>
              <a:rPr lang="fr-FR" sz="2000" b="1" dirty="0"/>
              <a:t>directe :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Une vulnérabilité </a:t>
            </a:r>
            <a:r>
              <a:rPr lang="fr-FR" b="1" dirty="0"/>
              <a:t>économique, sociale et environnementale accrue</a:t>
            </a:r>
            <a:r>
              <a:rPr lang="fr-FR" dirty="0"/>
              <a:t> des populations rurales.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872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8672" y="1234599"/>
            <a:ext cx="849593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 smtClean="0"/>
              <a:t>Le </a:t>
            </a:r>
            <a:r>
              <a:rPr lang="fr-FR" sz="1600" dirty="0"/>
              <a:t>changement climatique affecte fortement les </a:t>
            </a:r>
            <a:r>
              <a:rPr lang="fr-FR" sz="1600" b="1" dirty="0"/>
              <a:t>zones rurales</a:t>
            </a:r>
            <a:r>
              <a:rPr lang="fr-FR" sz="1600" dirty="0"/>
              <a:t>, où l’agriculture est la </a:t>
            </a:r>
            <a:r>
              <a:rPr lang="fr-FR" sz="1600" b="1" dirty="0"/>
              <a:t>principale source de revenus</a:t>
            </a:r>
            <a:r>
              <a:rPr lang="fr-F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fr-FR" sz="1600" dirty="0" smtClean="0"/>
              <a:t> Les </a:t>
            </a:r>
            <a:r>
              <a:rPr lang="fr-FR" sz="1600" dirty="0"/>
              <a:t>agriculteurs manquent d’</a:t>
            </a:r>
            <a:r>
              <a:rPr lang="fr-FR" sz="1600" b="1" dirty="0"/>
              <a:t>informations clés</a:t>
            </a:r>
            <a:r>
              <a:rPr lang="fr-FR" sz="1600" dirty="0"/>
              <a:t> pour anticiper et décider 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b="1" dirty="0"/>
              <a:t>Données climatiques exploitables</a:t>
            </a:r>
            <a:endParaRPr lang="fr-F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b="1" dirty="0"/>
              <a:t>Alertes précoces adaptées</a:t>
            </a:r>
            <a:endParaRPr lang="fr-F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b="1" dirty="0"/>
              <a:t>Accès aux prix des marchés agricoles</a:t>
            </a:r>
            <a:endParaRPr lang="fr-F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b="1" dirty="0"/>
              <a:t>Outils d’anticipation et de </a:t>
            </a:r>
            <a:r>
              <a:rPr lang="fr-FR" sz="1600" b="1" dirty="0" smtClean="0"/>
              <a:t>planification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1600" dirty="0"/>
          </a:p>
          <a:p>
            <a:pPr>
              <a:lnSpc>
                <a:spcPct val="150000"/>
              </a:lnSpc>
            </a:pPr>
            <a:r>
              <a:rPr lang="fr-FR" sz="1600" dirty="0"/>
              <a:t>L</a:t>
            </a:r>
            <a:r>
              <a:rPr lang="fr-FR" sz="1600" dirty="0" smtClean="0"/>
              <a:t>es </a:t>
            </a:r>
            <a:r>
              <a:rPr lang="fr-FR" sz="1600" b="1" dirty="0"/>
              <a:t>communes rurales</a:t>
            </a:r>
            <a:r>
              <a:rPr lang="fr-FR" sz="1600" dirty="0"/>
              <a:t> disposent de capacités limitées pour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communiquer efficacement avec les citoyens,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suivre et rendre visibles les projets de développement,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intégrer les </a:t>
            </a:r>
            <a:r>
              <a:rPr lang="fr-FR" sz="1600" b="1" dirty="0"/>
              <a:t>données spatiales et climatiques</a:t>
            </a:r>
            <a:r>
              <a:rPr lang="fr-FR" sz="1600" dirty="0"/>
              <a:t> dans la planification locale et agricole</a:t>
            </a:r>
            <a:r>
              <a:rPr lang="fr-FR" sz="1600" dirty="0" smtClean="0"/>
              <a:t>.</a:t>
            </a:r>
            <a:endParaRPr lang="fr-FR" sz="1600" dirty="0"/>
          </a:p>
        </p:txBody>
      </p:sp>
      <p:sp>
        <p:nvSpPr>
          <p:cNvPr id="3" name="Rectangle 2"/>
          <p:cNvSpPr/>
          <p:nvPr/>
        </p:nvSpPr>
        <p:spPr>
          <a:xfrm>
            <a:off x="2243052" y="749709"/>
            <a:ext cx="2793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Pourquoi agir maintenant ?</a:t>
            </a:r>
            <a:endParaRPr lang="fr-FR" b="1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2612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2143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702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Contexte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Pertes</a:t>
            </a:r>
            <a:r>
              <a:rPr dirty="0"/>
              <a:t> </a:t>
            </a:r>
            <a:r>
              <a:rPr dirty="0" err="1"/>
              <a:t>agricoles</a:t>
            </a:r>
            <a:r>
              <a:rPr dirty="0"/>
              <a:t> </a:t>
            </a:r>
            <a:r>
              <a:rPr dirty="0" err="1"/>
              <a:t>récurrentes</a:t>
            </a:r>
            <a:endParaRPr dirty="0"/>
          </a:p>
          <a:p>
            <a:r>
              <a:rPr dirty="0" err="1"/>
              <a:t>Manque</a:t>
            </a:r>
            <a:r>
              <a:rPr dirty="0"/>
              <a:t> </a:t>
            </a:r>
            <a:r>
              <a:rPr dirty="0" err="1"/>
              <a:t>d’information</a:t>
            </a:r>
            <a:r>
              <a:rPr dirty="0"/>
              <a:t> </a:t>
            </a:r>
            <a:r>
              <a:rPr dirty="0" err="1"/>
              <a:t>climatique</a:t>
            </a:r>
            <a:endParaRPr dirty="0"/>
          </a:p>
          <a:p>
            <a:r>
              <a:rPr dirty="0" err="1"/>
              <a:t>Faible</a:t>
            </a:r>
            <a:r>
              <a:rPr dirty="0"/>
              <a:t> communication </a:t>
            </a:r>
            <a:r>
              <a:rPr dirty="0" err="1"/>
              <a:t>communale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362417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fr-FR" sz="1800" dirty="0"/>
              <a:t>Exposition élevée des communes rurales aux risques climatiques (sécheresses, inondations, variabilité saisonnière)</a:t>
            </a:r>
          </a:p>
          <a:p>
            <a:pPr lvl="0">
              <a:lnSpc>
                <a:spcPct val="150000"/>
              </a:lnSpc>
            </a:pPr>
            <a:r>
              <a:rPr lang="fr-FR" sz="1800" dirty="0"/>
              <a:t>Décisions agricoles et communales prises dans l’urgence</a:t>
            </a:r>
          </a:p>
          <a:p>
            <a:pPr lvl="0">
              <a:lnSpc>
                <a:spcPct val="150000"/>
              </a:lnSpc>
            </a:pPr>
            <a:r>
              <a:rPr lang="fr-FR" sz="1800" dirty="0"/>
              <a:t>Faible diffusion des informations climatiques et économiques</a:t>
            </a:r>
          </a:p>
          <a:p>
            <a:pPr lvl="0">
              <a:lnSpc>
                <a:spcPct val="150000"/>
              </a:lnSpc>
            </a:pPr>
            <a:r>
              <a:rPr lang="fr-FR" sz="1800" dirty="0"/>
              <a:t>Manque de transparence et de visibilité des projets communaux</a:t>
            </a:r>
          </a:p>
          <a:p>
            <a:pPr lvl="0">
              <a:lnSpc>
                <a:spcPct val="150000"/>
              </a:lnSpc>
            </a:pPr>
            <a:r>
              <a:rPr lang="fr-FR" sz="1800" dirty="0"/>
              <a:t>Faible appropriation citoyenne des actions de </a:t>
            </a:r>
            <a:r>
              <a:rPr lang="fr-FR" sz="1800" dirty="0" smtClean="0"/>
              <a:t>développement</a:t>
            </a:r>
            <a:endParaRPr lang="fr-FR" sz="1800" dirty="0"/>
          </a:p>
        </p:txBody>
      </p:sp>
      <p:sp>
        <p:nvSpPr>
          <p:cNvPr id="4" name="Rectangle 3"/>
          <p:cNvSpPr/>
          <p:nvPr/>
        </p:nvSpPr>
        <p:spPr>
          <a:xfrm>
            <a:off x="457200" y="4683514"/>
            <a:ext cx="6405238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FF0000"/>
                </a:solidFill>
              </a:rPr>
              <a:t>Ces facteurs vont accentuer la pauvreté en milieu rural et affaiblir la cohésion entre les territoires.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3632" y="749709"/>
            <a:ext cx="2052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Objectifs du projet</a:t>
            </a:r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954349" y="1468755"/>
            <a:ext cx="7293006" cy="368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Objectif général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Renforcer la résilience climatique et la gouvernance locale des communes rurales grâce à une plateforme intégrée d’alerte précoce et de gestion communale basée sur les données géo spatiales.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Objectifs spécifiques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Mettre en place un système d’alerte précoce sur les risques climatiques majeurs ;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Améliorer l’accès des agriculteurs aux informations climatiques et aux prix des marchés ;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Renforcer la communication entre les communes et les citoyens ;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Rendre visibles et traçables les projets de développement communal ;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fr-FR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Appuyer la planification locale et la prise de décision basée sur les données.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870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77442" y="483379"/>
            <a:ext cx="1894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Solution Proposée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03490" y="1310855"/>
            <a:ext cx="4536490" cy="128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Blip>
                <a:blip r:embed="rId2"/>
              </a:buBlip>
            </a:pPr>
            <a:r>
              <a:rPr lang="fr-FR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Système d’alerte </a:t>
            </a:r>
            <a:r>
              <a:rPr lang="fr-FR" sz="1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précoce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Alertes sur sécheresses, inondations et anomalies climatiques en temps réel;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Diffusion via web, tableaux de bord, messagerie sms </a:t>
            </a:r>
            <a:r>
              <a:rPr lang="fr-FR" sz="1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et canaux adaptés au contexte local.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136557" y="1310855"/>
            <a:ext cx="3764132" cy="187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Blip>
                <a:blip r:embed="rId2"/>
              </a:buBlip>
            </a:pPr>
            <a:r>
              <a:rPr lang="fr-FR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Géoportail</a:t>
            </a:r>
            <a:r>
              <a:rPr lang="fr-FR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interactif communal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Cartographie des zones à risques prévisionnel ;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Localisation des populations et zones agricoles exposées ;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Visualisation des infrastructures et projets communaux.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Suivie des prix des produits locaux et des marchés 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1442" y="2928130"/>
            <a:ext cx="4572000" cy="118090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Blip>
                <a:blip r:embed="rId2"/>
              </a:buBlip>
            </a:pPr>
            <a:r>
              <a:rPr lang="fr-FR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agricole et économique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Informations sur les saisons agricoles ;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Suivi des prix des marchés agricoles ;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Outils d’aide à la décision pour les producteurs.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1442" y="4646080"/>
            <a:ext cx="4572000" cy="8806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Blip>
                <a:blip r:embed="rId2"/>
              </a:buBlip>
            </a:pPr>
            <a:r>
              <a:rPr lang="fr-FR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de communication et de gouvernance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Publication et suivi des projets communaux ;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Canal d’information entre collectivités et citoyens.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350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Général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Réduire la vulnérabilité des communes rurales</a:t>
            </a:r>
          </a:p>
          <a:p>
            <a:r>
              <a:t>Renforcer la résilience climatique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Spécifiques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Alertes précoces</a:t>
            </a:r>
          </a:p>
          <a:p>
            <a:r>
              <a:t>Information agricole</a:t>
            </a:r>
          </a:p>
          <a:p>
            <a:r>
              <a:t>Communication citoyenne</a:t>
            </a:r>
          </a:p>
          <a:p>
            <a:r>
              <a:t>Visibilité des projets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 </a:t>
            </a:r>
            <a:r>
              <a:rPr dirty="0" err="1"/>
              <a:t>Proposée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Plateforme</a:t>
            </a:r>
            <a:r>
              <a:rPr dirty="0"/>
              <a:t> </a:t>
            </a:r>
            <a:r>
              <a:rPr dirty="0" err="1"/>
              <a:t>numérique</a:t>
            </a:r>
            <a:r>
              <a:rPr dirty="0"/>
              <a:t> </a:t>
            </a:r>
            <a:r>
              <a:rPr dirty="0" err="1"/>
              <a:t>intégrée</a:t>
            </a:r>
            <a:endParaRPr dirty="0"/>
          </a:p>
          <a:p>
            <a:r>
              <a:rPr dirty="0"/>
              <a:t>SIG et </a:t>
            </a:r>
            <a:r>
              <a:rPr dirty="0" err="1"/>
              <a:t>données</a:t>
            </a:r>
            <a:r>
              <a:rPr dirty="0"/>
              <a:t> </a:t>
            </a:r>
            <a:r>
              <a:rPr dirty="0" err="1"/>
              <a:t>climatiques</a:t>
            </a:r>
            <a:endParaRPr dirty="0"/>
          </a:p>
          <a:p>
            <a:r>
              <a:rPr dirty="0" err="1"/>
              <a:t>Géoportail</a:t>
            </a:r>
            <a:r>
              <a:rPr dirty="0"/>
              <a:t> </a:t>
            </a:r>
            <a:r>
              <a:rPr dirty="0" err="1"/>
              <a:t>interactif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Alertes climatiques</a:t>
            </a:r>
          </a:p>
          <a:p>
            <a:r>
              <a:t>Cartes interactives</a:t>
            </a:r>
          </a:p>
          <a:p>
            <a:r>
              <a:t>Prix des marchés</a:t>
            </a:r>
          </a:p>
          <a:p>
            <a:r>
              <a:t>Suivi des projets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Bénéficiaires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Agriculteurs</a:t>
            </a:r>
          </a:p>
          <a:p>
            <a:r>
              <a:t>Communes rurales</a:t>
            </a:r>
          </a:p>
          <a:p>
            <a:r>
              <a:t>Populations locales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Attendus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Réduction des pertes agricoles</a:t>
            </a:r>
          </a:p>
          <a:p>
            <a:r>
              <a:t>Meilleure planification</a:t>
            </a:r>
          </a:p>
          <a:p>
            <a:r>
              <a:t>Gouvernance renforcée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Ambition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 l’information en action</a:t>
            </a:r>
          </a:p>
          <a:p>
            <a:r>
              <a:t>Développement local durable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556</Words>
  <Application>Microsoft Office PowerPoint</Application>
  <PresentationFormat>Affichage à l'écran (4:3)</PresentationFormat>
  <Paragraphs>93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Calibri</vt:lpstr>
      <vt:lpstr>Symbol</vt:lpstr>
      <vt:lpstr>Times New Roman</vt:lpstr>
      <vt:lpstr>Wingdings</vt:lpstr>
      <vt:lpstr>Office Theme</vt:lpstr>
      <vt:lpstr>Système d’Alerte Précoce et de Gestion Communale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Contexte</vt:lpstr>
      <vt:lpstr>Problématique</vt:lpstr>
      <vt:lpstr>Présentation PowerPoint</vt:lpstr>
      <vt:lpstr>Présentation PowerPoint</vt:lpstr>
      <vt:lpstr>Objectif Général</vt:lpstr>
      <vt:lpstr>Objectifs Spécifiques</vt:lpstr>
      <vt:lpstr>Solution Proposée</vt:lpstr>
      <vt:lpstr>Fonctionnalités Clés</vt:lpstr>
      <vt:lpstr>Bénéficiaires</vt:lpstr>
      <vt:lpstr>Résultats Attendus</vt:lpstr>
      <vt:lpstr>Ambition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d’Alerte Précoce et de Gestion Communale</dc:title>
  <dc:subject/>
  <dc:creator>Bakota KOUTOUMBOGA</dc:creator>
  <cp:keywords/>
  <dc:description>generated using python-pptx</dc:description>
  <cp:lastModifiedBy>Bakota KOUTOUMBOGA</cp:lastModifiedBy>
  <cp:revision>6</cp:revision>
  <dcterms:created xsi:type="dcterms:W3CDTF">2013-01-27T09:14:16Z</dcterms:created>
  <dcterms:modified xsi:type="dcterms:W3CDTF">2026-02-03T20:37:59Z</dcterms:modified>
  <cp:category/>
</cp:coreProperties>
</file>